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2F4A3F"/>
                </a:solidFill>
                <a:latin typeface="Courier New"/>
              </a:rPr>
              <a:t>Design Office — argumentaire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1C1F1A"/>
                </a:solidFill>
                <a:latin typeface="Calibri"/>
              </a:rPr>
              <a:t>Lumen
« L'Atelier Nord — Fabrique Lumineuse 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65760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38404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C1F1A"/>
                </a:solidFill>
                <a:latin typeface="Calibri"/>
              </a:rPr>
              <a:t>Parti : Atelier
Postes : 130
Flex ratio : 0.75
Total programmé : ≈ 2080 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F837D"/>
                </a:solidFill>
                <a:latin typeface="Courier New"/>
              </a:rPr>
              <a:t>2026-04-22 · Built with Opus 4.7 ·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F4A3F"/>
                </a:solidFill>
                <a:latin typeface="Courier New"/>
              </a:rPr>
              <a:t>01 · LE PARI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C1F1A"/>
                </a:solidFill>
                <a:latin typeface="Calibri"/>
              </a:rPr>
              <a:t>Pourquoi cette variante pour Lumen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C1F1A"/>
                </a:solidFill>
                <a:latin typeface="Calibri"/>
              </a:rPr>
              <a:t>La variante « atelier nord » fait un pari simple : rendre au bureau Lumen ce que le domicile ne peut pas donner — collaboration synchrone, rituels d'équipe, café qui rassemble — tout en protégeant ce que le pair programming exige de plus précieux, l'attention profonde. Leesman 2024 chiffre l'écart à combler : 10 points entre le Lmi bureau (69,5) et le H-Lmi domicile (79,5). Notre réponse : une bande postes en façade nord pour la concentration diffuse, une spine centrale cloisonnée qui absorbe appels et huddles, et un café sud de 260 m² assumé comme cœur social — fidèle à votre demande « cafétéria centrale pas reléguée ». Le tout indexé sur une politique 3/2 et un ratio 0,75 seat/FTE prudent, cohérent avec l'identité forte par équipe que vous revendiquez.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F4A3F"/>
                </a:solidFill>
                <a:latin typeface="Courier New"/>
              </a:rPr>
              <a:t>02 · PROGRAMME RETENU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C1F1A"/>
                </a:solidFill>
                <a:latin typeface="Calibri"/>
              </a:rPr>
              <a:t>Chiffres clés de la variante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5603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POSTES INDIVIDUELS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79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RÉUNIONS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154679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560320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788920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PHONE BOOTHS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154679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79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79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FLEX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0.75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297679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4526279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COLLAB (M²)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4892040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620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4297679"/>
            <a:ext cx="3749039" cy="1554480"/>
          </a:xfrm>
          <a:prstGeom prst="roundRect">
            <a:avLst>
              <a:gd name="adj" fmla="val 6000"/>
            </a:avLst>
          </a:prstGeom>
          <a:solidFill>
            <a:srgbClr val="E8E3D8"/>
          </a:solidFill>
          <a:ln w="6350">
            <a:solidFill>
              <a:srgbClr val="7F8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4526279"/>
            <a:ext cx="32003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C6C1B4"/>
                </a:solidFill>
                <a:latin typeface="Courier New"/>
              </a:rPr>
              <a:t>TOTAL PROGRAMMÉ (M²)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892040"/>
            <a:ext cx="32003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C1F1A"/>
                </a:solidFill>
                <a:latin typeface="Calibri"/>
              </a:rPr>
              <a:t>2080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F4A3F"/>
                </a:solidFill>
                <a:latin typeface="Courier New"/>
              </a:rPr>
              <a:t>03 · CE QUE DIT LA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C1F1A"/>
                </a:solidFill>
                <a:latin typeface="Calibri"/>
              </a:rPr>
              <a:t>Acoustique · Biophilie · Flex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C1F1A"/>
                </a:solidFill>
                <a:latin typeface="Calibri"/>
              </a:rPr>
              <a:t>— Acoustique &amp; confort sonore
L'acoustique est la dimension la plus mal notée du panel Leesman 2024 : 35 % de salariés satisfaits du niveau sonore, 40 % de la disponibilité d'espaces calmes. Pour des devs en pair programming, c'est le levier n°1 de perception qualité.
Nos cibles, calées sur NF S 31-080 et NF S 31-199 / ISO 3382-3:2022 :
• Bande postes nord : D2,S ≥ 7 dB, Lp,A,S,4m ≤ 48 dB, rD ≤ 5 m, background ~35 dB(A) (niveau Performant).
• Salles de réunion : DnT,A ≥ 40 dB vs circulation, TR60 ≤ 0,5 s (huddles) à 0,6 s (médiums), boardrooms visés Très Performant (DnT,A 45 dB, background ≤ 30 dB(A)). [À VÉRIFIER ligne par ligne contre NF S 31-080]
• Phone booths Framery One Compact : intérieur ≤ 30 dB(A), à commissionner en place (un joint dégradé fait chuter l'atténuation de 30 à ~15 dB).
Moves de design associés : plafond acoustique Classe A (αw ≥ 0,90) continu sur la bande postes et le café, inversion atelier (salles fermées en bande centrale, postes en façade nord), double cloison acoustique à y=12500, 14 phone booths distribués le long de la spine à ≤ 15 m de tout poste, moquette α 0,25–0,45, baffles suspendus au café tous les 4 m, et sound masking broadband speech-shaped à ~45 dB(A) — activé après commissioning, jamais en premier lieu.
L'évidence : Hongisto 2005 montre une chute de performance cognitive dès STI &gt; 0,20, plateau à 0,60, décrément 4–45 % selon la tâche…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6C1B4"/>
                </a:solidFill>
                <a:latin typeface="Courier New"/>
              </a:rPr>
              <a:t>Sources : Browning 2014 · Nieuwenhuis 2014 · Ulrich 1984 · NF S 31-080 · Leesman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F4A3F"/>
                </a:solidFill>
                <a:latin typeface="Courier New"/>
              </a:rPr>
              <a:t>04 · CE QUE DIT LA RÉGLEMENTATION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C1F1A"/>
                </a:solidFill>
                <a:latin typeface="Calibri"/>
              </a:rPr>
              <a:t>ERP type W · PMR · Code du travail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77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C1F1A"/>
                </a:solidFill>
                <a:latin typeface="Calibri"/>
              </a:rPr>
              <a:t>ERP type W catégorie 4 (effectif 170 FTE + visiteurs &lt; 300). Attention : jauge town hall + café fusionnés (~380 m²) peut faire basculer ponctuellement l'effectif cumulé &gt; 300 → requalification catégorie 3 possible (alarme type 3). À trancher avec le bureau de contrôle selon mode d'exploitation.
PMR — Arrêté du 20 avril 2017 (neuf) [À VÉRIFIER régime neuf vs existant 8/12/2014] :
• Spine principale 1,80 m ≥ 1,40 m requis ✓ ; secondaires 1,40 m ✓.
• Portes café + town hall ≥ 1,40 m utiles (double vantail, &gt; 100 pers).
• Cercles Ø 1,50 m en extrémité de spine, focus rooms, WC PMR, réception.
• WC PMR ≥ 1 cabine par bloc, 1,50 × 2,10 m [À VÉRIFIER valeur exacte].
• Ascenseur obligatoire (effectif niveau ≈ 85 &gt; 50) [À VÉRIFIER seuil].
• Comptoir réception 0,80 m max, vide pieds, aire 0,90 × 1,30 m.
Sécurité incendie :
• 2 sorties opposées par niveau, UP ≥ 1,40 m cumulés [À VÉRIFIER CO 38], distance max à issue ≤ 40 m — à vérifier depuis le poste le plus excentré (x≈54000, y≈38000).
• Escalier central non encloisonné : dispense à négocier tôt avec le bureau de contrôle, sinon EI 30–60 + portes pare-flammes — arbitrage identité architecturale.
• Café 260 + town hall 180 + lounge 60 = ~500 m² sud &gt; 300 m² → désenfumage mécanique obligatoire à provisionner dès APS.
• 12 extincteurs 6 L minimum, finitions EN 13501-1 (murs B-s2,d0 ; sols Cfl-s1).
Code du travail : 500 lx maintenus en tâche (EN 12464-1:2021), UGR ≤ 19, CRI ≥ 80. Ventilation ≥ 25 m³/h/occupant soit ≥ 4 250 m³/h, avec…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6C1B4"/>
                </a:solidFill>
                <a:latin typeface="Courier New"/>
              </a:rPr>
              <a:t>Sources : Arrêté 20 avril 2017 · Règlement sécurité ERP type W · R. 4222 / R. 4223 · EN 12464-1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2F4A3F"/>
                </a:solidFill>
                <a:latin typeface="Courier New"/>
              </a:rPr>
              <a:t>05 · PROCHAINES ÉTAPES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C1F1A"/>
                </a:solidFill>
                <a:latin typeface="Calibri"/>
              </a:rPr>
              <a:t>Ce qu'il faut pour démarrer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3657600" cy="0"/>
          </a:xfrm>
          <a:prstGeom prst="line">
            <a:avLst/>
          </a:prstGeom>
          <a:ln w="12700">
            <a:solidFill>
              <a:srgbClr val="A08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468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08863"/>
                </a:solidFill>
                <a:latin typeface="Courier New"/>
              </a:rPr>
              <a:t>RÉSULTATS ATTENDUS 6–12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F1A"/>
                </a:solidFill>
                <a:latin typeface="Calibri"/>
              </a:rPr>
              <a:t>• Leesman Lmi : +8 à +12 points sur plants, noise levels, sense of community à T+12.
• STI mesuré zone postes &lt; 0,20 à 4 m de la source parlante — commissioning ISO 3382-3 à +3 mois.
• 100 % des postes à sight-line fenêtre ≤ 8 m ; ≥ 260 plantes installées, attrition ≤ 5 %/trimestre.
• ≥ 8/14 patterns Browning exprimés, audit visuel à T+6.
• Utilisation meeting rooms &amp; postes instrumentée dès J1 (Joan/Robin) ; ré-arbitrage ratio à T+12–18.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08863"/>
                </a:solidFill>
                <a:latin typeface="Courier New"/>
              </a:rPr>
              <a:t>PROCHAINES ÉTAPES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F1A"/>
                </a:solidFill>
                <a:latin typeface="Calibri"/>
              </a:rPr>
              <a:t>• Semaine 1–2 : engager le bureau de contrôle sur (a) dispense encloisonnement escalier, (b) stratégie désenfumage café+town hall.
• Semaine 2–4 : relevé existant (ascenseurs PMR, gaines, hauteur sous dalle ≥ 400 mm plenum), obtention du propriétaire des certificats façade / feu / ascenseur.
• Semaine 3–6 : STD façade sud (tenue été café + town hall), confirmation effectifs équipes RH, politique sit-stand.
• APS : verrouiller catégorie ERP via déclaration effectif au guichet, inscrire classements EN 13501-1 au CCTP, budgéter commissioning acoustique AEI.
• Livraison + 3 mois : commissioning ISO 3382-3, tuning sound masking, première mesure Leesman post-occupancy.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6C1B4"/>
                </a:solidFill>
                <a:latin typeface="Courier New"/>
              </a:rPr>
              <a:t>Projet : LUMEN-CAT-B-DEMO · Built with Opus 4.7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